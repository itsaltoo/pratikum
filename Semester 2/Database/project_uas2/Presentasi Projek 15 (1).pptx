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23"/>
  </p:notesMasterIdLst>
  <p:handoutMasterIdLst>
    <p:handoutMasterId r:id="rId24"/>
  </p:handoutMasterIdLst>
  <p:sldIdLst>
    <p:sldId id="312" r:id="rId5"/>
    <p:sldId id="304" r:id="rId6"/>
    <p:sldId id="307" r:id="rId7"/>
    <p:sldId id="331" r:id="rId8"/>
    <p:sldId id="282" r:id="rId9"/>
    <p:sldId id="281" r:id="rId10"/>
    <p:sldId id="323" r:id="rId11"/>
    <p:sldId id="325" r:id="rId12"/>
    <p:sldId id="326" r:id="rId13"/>
    <p:sldId id="314" r:id="rId14"/>
    <p:sldId id="315" r:id="rId15"/>
    <p:sldId id="327" r:id="rId16"/>
    <p:sldId id="328" r:id="rId17"/>
    <p:sldId id="329" r:id="rId18"/>
    <p:sldId id="330" r:id="rId19"/>
    <p:sldId id="332" r:id="rId20"/>
    <p:sldId id="333" r:id="rId21"/>
    <p:sldId id="297" r:id="rId22"/>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2C8F"/>
    <a:srgbClr val="202C8F"/>
    <a:srgbClr val="FDFBF6"/>
    <a:srgbClr val="AAC4E9"/>
    <a:srgbClr val="F5CDCE"/>
    <a:srgbClr val="DF8C8C"/>
    <a:srgbClr val="D4D593"/>
    <a:srgbClr val="E6F0FE"/>
    <a:srgbClr val="CDBE8A"/>
    <a:srgbClr val="FFEF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5388" autoAdjust="0"/>
  </p:normalViewPr>
  <p:slideViewPr>
    <p:cSldViewPr snapToGrid="0" snapToObjects="1">
      <p:cViewPr varScale="1">
        <p:scale>
          <a:sx n="89" d="100"/>
          <a:sy n="89" d="100"/>
        </p:scale>
        <p:origin x="466" y="72"/>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2025</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32420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9356046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363168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3688639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98603718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6433858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5646071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836544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04761011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91305160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 Id="rId5" Type="http://schemas.openxmlformats.org/officeDocument/2006/relationships/image" Target="../media/image10.svg"/><Relationship Id="rId4"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16.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90" y="810227"/>
            <a:ext cx="6392421" cy="3831221"/>
          </a:xfrm>
        </p:spPr>
        <p:txBody>
          <a:bodyPr anchor="ctr"/>
          <a:lstStyle/>
          <a:p>
            <a:r>
              <a:rPr lang="en-US"/>
              <a:t>Presentasi Projek</a:t>
            </a:r>
            <a:br>
              <a:rPr lang="en-US"/>
            </a:br>
            <a:r>
              <a:rPr lang="en-US"/>
              <a:t>Basisdata</a:t>
            </a:r>
            <a:endParaRPr lang="en-US" dirty="0"/>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72736"/>
            <a:ext cx="6583680" cy="1531357"/>
          </a:xfrm>
        </p:spPr>
        <p:txBody>
          <a:bodyPr/>
          <a:lstStyle/>
          <a:p>
            <a:r>
              <a:rPr lang="en-US"/>
              <a:t>Anggota kelompok</a:t>
            </a:r>
            <a:endParaRPr lang="en-US" dirty="0"/>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399" y="1610846"/>
            <a:ext cx="7603299" cy="4714797"/>
          </a:xfrm>
        </p:spPr>
        <p:txBody>
          <a:bodyPr>
            <a:normAutofit lnSpcReduction="10000"/>
          </a:bodyPr>
          <a:lstStyle/>
          <a:p>
            <a:r>
              <a:rPr lang="en-US" sz="1800"/>
              <a:t>1. Malik Sabarullah Akbar</a:t>
            </a:r>
          </a:p>
          <a:p>
            <a:r>
              <a:rPr lang="en-US" sz="1800"/>
              <a:t>   - Tugas: Website dan Basis Data</a:t>
            </a:r>
          </a:p>
          <a:p>
            <a:r>
              <a:rPr lang="en-US" sz="1800"/>
              <a:t>2. Hifzi Khairi</a:t>
            </a:r>
          </a:p>
          <a:p>
            <a:r>
              <a:rPr lang="en-US" sz="1800"/>
              <a:t>   - Tugas: ERD</a:t>
            </a:r>
          </a:p>
          <a:p>
            <a:r>
              <a:rPr lang="en-US" sz="1800"/>
              <a:t>3. Muhammad Iqbal Nur Salim</a:t>
            </a:r>
          </a:p>
          <a:p>
            <a:r>
              <a:rPr lang="en-US" sz="1800"/>
              <a:t>   - Tugas: Normalisasi</a:t>
            </a:r>
          </a:p>
          <a:p>
            <a:r>
              <a:rPr lang="en-US" sz="1800"/>
              <a:t>4. Muhammad Nabiel</a:t>
            </a:r>
          </a:p>
          <a:p>
            <a:r>
              <a:rPr lang="en-US" sz="1800"/>
              <a:t>   - Tugas: Membuat Laporan</a:t>
            </a:r>
          </a:p>
          <a:p>
            <a:r>
              <a:rPr lang="en-US" sz="1800"/>
              <a:t>5. Muhammad Shubhan Ajiela</a:t>
            </a:r>
          </a:p>
          <a:p>
            <a:r>
              <a:rPr lang="en-US" sz="1800"/>
              <a:t>   - Tugas: Mencari Materi</a:t>
            </a:r>
          </a:p>
          <a:p>
            <a:r>
              <a:rPr lang="en-US" sz="1800"/>
              <a:t>6. Athaya Hassya Fausta</a:t>
            </a:r>
          </a:p>
          <a:p>
            <a:r>
              <a:rPr lang="en-US" sz="1800"/>
              <a:t>   - Tugas: Membuat Laporan</a:t>
            </a:r>
            <a:endParaRPr lang="en-US" sz="1800"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1C54C42-A547-4044-B1A4-DDDA9F119776}"/>
              </a:ext>
            </a:extLst>
          </p:cNvPr>
          <p:cNvSpPr txBox="1"/>
          <p:nvPr/>
        </p:nvSpPr>
        <p:spPr>
          <a:xfrm>
            <a:off x="723378" y="327225"/>
            <a:ext cx="8295362" cy="5909310"/>
          </a:xfrm>
          <a:prstGeom prst="rect">
            <a:avLst/>
          </a:prstGeom>
          <a:noFill/>
        </p:spPr>
        <p:txBody>
          <a:bodyPr wrap="square">
            <a:spAutoFit/>
          </a:bodyPr>
          <a:lstStyle/>
          <a:p>
            <a:r>
              <a:rPr lang="en-US" b="1">
                <a:solidFill>
                  <a:srgbClr val="1F2C8F"/>
                </a:solidFill>
              </a:rPr>
              <a:t>Judul: Transaksi faktur penjualan barang bangunan</a:t>
            </a:r>
          </a:p>
          <a:p>
            <a:endParaRPr lang="en-US">
              <a:solidFill>
                <a:srgbClr val="1F2C8F"/>
              </a:solidFill>
            </a:endParaRPr>
          </a:p>
          <a:p>
            <a:r>
              <a:rPr lang="en-US">
                <a:solidFill>
                  <a:srgbClr val="1F2C8F"/>
                </a:solidFill>
              </a:rPr>
              <a:t>Dalam dunia usaha, sistem penjualan berbasis faktur merupakan salah satu metode yang umum digunakan untuk mencatat dan mengelola transaksi penjualan. Salah satu bidang usaha yang banyak mengandalkan sistem ini adalah toko atau distributor bahan bangunan. Penjualan barang bangunan tidak hanya melibatkan transaksi tunai, tetapi juga pembelian dalam jumlah besar yang sering kali menggunakan sistem faktur untuk memudahkan pencatatan dan pelaporan transaksi.</a:t>
            </a:r>
          </a:p>
          <a:p>
            <a:endParaRPr lang="en-US">
              <a:solidFill>
                <a:srgbClr val="1F2C8F"/>
              </a:solidFill>
            </a:endParaRPr>
          </a:p>
          <a:p>
            <a:r>
              <a:rPr lang="en-US">
                <a:solidFill>
                  <a:srgbClr val="1F2C8F"/>
                </a:solidFill>
              </a:rPr>
              <a:t>Sistem faktur penjualan barang bangunan memiliki alur data yang terstruktur dan jelas, mulai dari pendataan pelanggan, pencatatan barang-barang yang dijual, hingga pengelolaan transaksi penjualan yang dilakukan. Proses ini melibatkan beberapa entitas penting seperti pelanggan, barang, transaksi, dan detail faktur, yang saling berhubungan satu sama lain.</a:t>
            </a:r>
          </a:p>
          <a:p>
            <a:endParaRPr lang="en-US">
              <a:solidFill>
                <a:srgbClr val="1F2C8F"/>
              </a:solidFill>
            </a:endParaRPr>
          </a:p>
          <a:p>
            <a:r>
              <a:rPr lang="en-US">
                <a:solidFill>
                  <a:srgbClr val="1F2C8F"/>
                </a:solidFill>
              </a:rPr>
              <a:t>Studi kasus ini sangat cocok diterapkan dalam pembelajaran basis data karena dapat mencakup berbagai aspek penting dalam perancangan sistem informasi, seperti pembuatan tabel relasional, penentuan primary key dan foreign key, normalisasi data, serta pembuatan Entity Relationship Diagram (ERD) yang menggambarkan hubungan antar entitas dalam sistem.</a:t>
            </a:r>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3485334" y="810210"/>
            <a:ext cx="5723586" cy="4739104"/>
          </a:xfrm>
        </p:spPr>
        <p:txBody>
          <a:bodyPr/>
          <a:lstStyle/>
          <a:p>
            <a:r>
              <a:rPr lang="en-US"/>
              <a:t>Normalisasi</a:t>
            </a:r>
            <a:endParaRPr lang="en-US" dirty="0"/>
          </a:p>
        </p:txBody>
      </p:sp>
    </p:spTree>
    <p:extLst>
      <p:ext uri="{BB962C8B-B14F-4D97-AF65-F5344CB8AC3E}">
        <p14:creationId xmlns:p14="http://schemas.microsoft.com/office/powerpoint/2010/main" val="28706650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5" y="499864"/>
            <a:ext cx="7965461" cy="994164"/>
          </a:xfrm>
        </p:spPr>
        <p:txBody>
          <a:bodyPr/>
          <a:lstStyle/>
          <a:p>
            <a:r>
              <a:rPr lang="en-US"/>
              <a:t>Normalisasi</a:t>
            </a:r>
            <a:endParaRPr lang="en-US" dirty="0"/>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460565" y="1547459"/>
            <a:ext cx="7965460" cy="3497698"/>
          </a:xfrm>
        </p:spPr>
        <p:txBody>
          <a:bodyPr>
            <a:normAutofit fontScale="92500" lnSpcReduction="20000"/>
          </a:bodyPr>
          <a:lstStyle/>
          <a:p>
            <a:r>
              <a:rPr lang="en-US"/>
              <a:t>Normalisasi adalah proses pengorganisasian data dalam basis data agar tidak terjadi duplikasi data dan ketergantungan yang tidak perlu. Tujuan utama normalisasi adalah untuk mengurangi redundansi (pengulangan data) dan memastikan integritas data dengan membaginya ke dalam tabel-tabel yang logis.</a:t>
            </a:r>
          </a:p>
          <a:p>
            <a:endParaRPr lang="en-US"/>
          </a:p>
          <a:p>
            <a:r>
              <a:rPr lang="en-US"/>
              <a:t>Normalisasi dilakukan melalui beberapa tahap yang disebut *normal forms* (bentuk normal), seperti:</a:t>
            </a:r>
          </a:p>
          <a:p>
            <a:r>
              <a:rPr lang="en-US"/>
              <a:t>- Bentuk Normal Pertama (1NF)</a:t>
            </a:r>
          </a:p>
          <a:p>
            <a:r>
              <a:rPr lang="en-US"/>
              <a:t>- Bentuk Normal Kedua (2NF)</a:t>
            </a:r>
          </a:p>
          <a:p>
            <a:r>
              <a:rPr lang="en-US"/>
              <a:t>- Bentuk Normal Ketiga (3NF)</a:t>
            </a:r>
          </a:p>
          <a:p>
            <a:r>
              <a:rPr lang="en-US"/>
              <a:t>Setiap bentuk normal memiliki aturan tertentu yang harus dipenuhi sebelum melanjutkan ke tahap berikutnya.</a:t>
            </a:r>
            <a:endParaRPr lang="en-US" dirty="0"/>
          </a:p>
        </p:txBody>
      </p:sp>
    </p:spTree>
    <p:extLst>
      <p:ext uri="{BB962C8B-B14F-4D97-AF65-F5344CB8AC3E}">
        <p14:creationId xmlns:p14="http://schemas.microsoft.com/office/powerpoint/2010/main" val="685681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1C72761-E8DA-4DA4-9F87-AEC277D825DF}"/>
              </a:ext>
            </a:extLst>
          </p:cNvPr>
          <p:cNvPicPr>
            <a:picLocks noChangeAspect="1"/>
          </p:cNvPicPr>
          <p:nvPr/>
        </p:nvPicPr>
        <p:blipFill>
          <a:blip r:embed="rId3"/>
          <a:stretch>
            <a:fillRect/>
          </a:stretch>
        </p:blipFill>
        <p:spPr>
          <a:xfrm>
            <a:off x="939452" y="790640"/>
            <a:ext cx="8848725" cy="2295525"/>
          </a:xfrm>
          <a:prstGeom prst="rect">
            <a:avLst/>
          </a:prstGeom>
        </p:spPr>
      </p:pic>
      <p:sp>
        <p:nvSpPr>
          <p:cNvPr id="13" name="TextBox 12">
            <a:extLst>
              <a:ext uri="{FF2B5EF4-FFF2-40B4-BE49-F238E27FC236}">
                <a16:creationId xmlns:a16="http://schemas.microsoft.com/office/drawing/2014/main" id="{B3645C91-1A28-426B-86DA-4523A5C03999}"/>
              </a:ext>
            </a:extLst>
          </p:cNvPr>
          <p:cNvSpPr txBox="1"/>
          <p:nvPr/>
        </p:nvSpPr>
        <p:spPr>
          <a:xfrm>
            <a:off x="939452" y="3187869"/>
            <a:ext cx="8617907" cy="369332"/>
          </a:xfrm>
          <a:prstGeom prst="rect">
            <a:avLst/>
          </a:prstGeom>
          <a:noFill/>
        </p:spPr>
        <p:txBody>
          <a:bodyPr wrap="square" rtlCol="0">
            <a:spAutoFit/>
          </a:bodyPr>
          <a:lstStyle/>
          <a:p>
            <a:r>
              <a:rPr lang="en-US"/>
              <a:t>Sebelum kita membuat database kita harus me-normalisasi tabel tersebut menjadi 3NF</a:t>
            </a:r>
          </a:p>
        </p:txBody>
      </p:sp>
      <p:pic>
        <p:nvPicPr>
          <p:cNvPr id="17" name="Picture 16">
            <a:extLst>
              <a:ext uri="{FF2B5EF4-FFF2-40B4-BE49-F238E27FC236}">
                <a16:creationId xmlns:a16="http://schemas.microsoft.com/office/drawing/2014/main" id="{65A0BEA9-AFAB-45A3-BF3B-D66BBFECC375}"/>
              </a:ext>
            </a:extLst>
          </p:cNvPr>
          <p:cNvPicPr>
            <a:picLocks noChangeAspect="1"/>
          </p:cNvPicPr>
          <p:nvPr/>
        </p:nvPicPr>
        <p:blipFill>
          <a:blip r:embed="rId4"/>
          <a:stretch>
            <a:fillRect/>
          </a:stretch>
        </p:blipFill>
        <p:spPr>
          <a:xfrm>
            <a:off x="939451" y="3658905"/>
            <a:ext cx="8810625" cy="2466975"/>
          </a:xfrm>
          <a:prstGeom prst="rect">
            <a:avLst/>
          </a:prstGeom>
        </p:spPr>
      </p:pic>
    </p:spTree>
    <p:extLst>
      <p:ext uri="{BB962C8B-B14F-4D97-AF65-F5344CB8AC3E}">
        <p14:creationId xmlns:p14="http://schemas.microsoft.com/office/powerpoint/2010/main" val="29529238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16A3DEC-D73D-4F3A-AED7-CC7950E04637}"/>
              </a:ext>
            </a:extLst>
          </p:cNvPr>
          <p:cNvSpPr txBox="1"/>
          <p:nvPr/>
        </p:nvSpPr>
        <p:spPr>
          <a:xfrm>
            <a:off x="457199" y="394692"/>
            <a:ext cx="10690965" cy="5909310"/>
          </a:xfrm>
          <a:prstGeom prst="rect">
            <a:avLst/>
          </a:prstGeom>
          <a:noFill/>
        </p:spPr>
        <p:txBody>
          <a:bodyPr wrap="square" rtlCol="0">
            <a:spAutoFit/>
          </a:bodyPr>
          <a:lstStyle/>
          <a:p>
            <a:r>
              <a:rPr lang="en-US"/>
              <a:t>Syarat 1 NF:</a:t>
            </a:r>
          </a:p>
          <a:p>
            <a:r>
              <a:rPr lang="en-US"/>
              <a:t>1. Atomicitas: Semua nilai dalam kolom harus atomik (tidak boleh ada lebih dari satu nilai dalam satu sel).</a:t>
            </a:r>
          </a:p>
          <a:p>
            <a:endParaRPr lang="en-US"/>
          </a:p>
          <a:p>
            <a:r>
              <a:rPr lang="en-US"/>
              <a:t>2. Tidak ada repeating group (pengulangan kelompok kolom).</a:t>
            </a:r>
          </a:p>
          <a:p>
            <a:endParaRPr lang="en-US"/>
          </a:p>
          <a:p>
            <a:r>
              <a:rPr lang="en-US"/>
              <a:t>Kenapa dilakukan:</a:t>
            </a:r>
          </a:p>
          <a:p>
            <a:endParaRPr lang="en-US"/>
          </a:p>
          <a:p>
            <a:r>
              <a:rPr lang="en-US"/>
              <a:t>Pada tabel awal (Struktur Penjualan Barang Bangunan), satu faktur (misalnya KP-001) </a:t>
            </a:r>
          </a:p>
          <a:p>
            <a:r>
              <a:rPr lang="en-US"/>
              <a:t>mencantumkan beberapa barang dalam satu record faktur.</a:t>
            </a:r>
          </a:p>
          <a:p>
            <a:endParaRPr lang="en-US"/>
          </a:p>
          <a:p>
            <a:r>
              <a:rPr lang="en-US"/>
              <a:t>Agar memenuhi 1NF, data harus dipecah sehingga setiap baris hanya mewakili satu transaksi barang.</a:t>
            </a:r>
          </a:p>
          <a:p>
            <a:endParaRPr lang="en-US"/>
          </a:p>
          <a:p>
            <a:r>
              <a:rPr lang="en-US"/>
              <a:t>Contoh yang dipecah:</a:t>
            </a:r>
          </a:p>
          <a:p>
            <a:endParaRPr lang="en-US"/>
          </a:p>
          <a:p>
            <a:r>
              <a:rPr lang="en-US"/>
              <a:t>KP-001, 13/05/2025, BRG-001, BATUBATA, 900, 4200</a:t>
            </a:r>
          </a:p>
          <a:p>
            <a:endParaRPr lang="en-US"/>
          </a:p>
          <a:p>
            <a:r>
              <a:rPr lang="en-US"/>
              <a:t>KP-001, 13/05/2025, BRG-002, SEMEN, 60000, 310</a:t>
            </a:r>
          </a:p>
          <a:p>
            <a:endParaRPr lang="en-US"/>
          </a:p>
          <a:p>
            <a:r>
              <a:rPr lang="en-US"/>
              <a:t>dan seterusnya.</a:t>
            </a:r>
          </a:p>
          <a:p>
            <a:endParaRPr lang="en-US"/>
          </a:p>
          <a:p>
            <a:r>
              <a:rPr lang="en-US"/>
              <a:t>Tujuan: Agar data lebih konsisten dan mudah diproses secara terpisah per item.</a:t>
            </a:r>
          </a:p>
        </p:txBody>
      </p:sp>
    </p:spTree>
    <p:extLst>
      <p:ext uri="{BB962C8B-B14F-4D97-AF65-F5344CB8AC3E}">
        <p14:creationId xmlns:p14="http://schemas.microsoft.com/office/powerpoint/2010/main" val="1437229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49939CC-BE4E-4032-8A78-FB64E67E72EC}"/>
              </a:ext>
            </a:extLst>
          </p:cNvPr>
          <p:cNvSpPr txBox="1"/>
          <p:nvPr/>
        </p:nvSpPr>
        <p:spPr>
          <a:xfrm>
            <a:off x="1164921" y="494964"/>
            <a:ext cx="611065" cy="369332"/>
          </a:xfrm>
          <a:prstGeom prst="rect">
            <a:avLst/>
          </a:prstGeom>
          <a:noFill/>
        </p:spPr>
        <p:txBody>
          <a:bodyPr wrap="none" rtlCol="0">
            <a:spAutoFit/>
          </a:bodyPr>
          <a:lstStyle/>
          <a:p>
            <a:r>
              <a:rPr lang="en-US"/>
              <a:t>2NF</a:t>
            </a:r>
          </a:p>
        </p:txBody>
      </p:sp>
      <p:sp>
        <p:nvSpPr>
          <p:cNvPr id="7" name="TextBox 6">
            <a:extLst>
              <a:ext uri="{FF2B5EF4-FFF2-40B4-BE49-F238E27FC236}">
                <a16:creationId xmlns:a16="http://schemas.microsoft.com/office/drawing/2014/main" id="{182D1FC1-7EB3-4538-A6B1-D317BEA3B29C}"/>
              </a:ext>
            </a:extLst>
          </p:cNvPr>
          <p:cNvSpPr txBox="1"/>
          <p:nvPr/>
        </p:nvSpPr>
        <p:spPr>
          <a:xfrm>
            <a:off x="810886" y="2950261"/>
            <a:ext cx="10885814" cy="3539430"/>
          </a:xfrm>
          <a:prstGeom prst="rect">
            <a:avLst/>
          </a:prstGeom>
          <a:noFill/>
        </p:spPr>
        <p:txBody>
          <a:bodyPr wrap="square" rtlCol="0">
            <a:spAutoFit/>
          </a:bodyPr>
          <a:lstStyle/>
          <a:p>
            <a:r>
              <a:rPr lang="en-US" sz="1600"/>
              <a:t>Syarat:</a:t>
            </a:r>
          </a:p>
          <a:p>
            <a:endParaRPr lang="en-US" sz="1600"/>
          </a:p>
          <a:p>
            <a:pPr marL="342900" indent="-342900">
              <a:buAutoNum type="arabicPeriod"/>
            </a:pPr>
            <a:r>
              <a:rPr lang="en-US" sz="1600"/>
              <a:t>Sudah memenuhi 1NF.</a:t>
            </a:r>
          </a:p>
          <a:p>
            <a:pPr marL="342900" indent="-342900">
              <a:buAutoNum type="arabicPeriod"/>
            </a:pPr>
            <a:endParaRPr lang="en-US" sz="1600"/>
          </a:p>
          <a:p>
            <a:r>
              <a:rPr lang="en-US" sz="1600"/>
              <a:t>2. Tidak ada partial dependency: Semua atribut non-primer harus bergantung sepenuhnya pada primary key (jika kunci utama merupakan gabungan).</a:t>
            </a:r>
          </a:p>
          <a:p>
            <a:r>
              <a:rPr lang="en-US" sz="1600"/>
              <a:t>Kenapa dilakukan:</a:t>
            </a:r>
          </a:p>
          <a:p>
            <a:r>
              <a:rPr lang="en-US" sz="1600"/>
              <a:t>Dalam 1NF, beberapa atribut seperti Nama_Barang dan Harga hanya tergantung pada Kode_Barang, bukan kombinasi Kode_Faktur dan Kode_Barang.</a:t>
            </a:r>
          </a:p>
          <a:p>
            <a:r>
              <a:rPr lang="en-US" sz="1600"/>
              <a:t>Untuk memenuhi 2NF:</a:t>
            </a:r>
          </a:p>
          <a:p>
            <a:r>
              <a:rPr lang="en-US" sz="1600"/>
              <a:t>Pisahkan data barang ke tabel Tabel_Barang dengan atribut: Kode_Barang, Nama_Barang, dan Harga.</a:t>
            </a:r>
          </a:p>
          <a:p>
            <a:r>
              <a:rPr lang="en-US" sz="1600"/>
              <a:t>Tabel transaksi hanya menyimpan: Kode_Faktur, Tanggal, Kode_Barang, dan Jumlah.</a:t>
            </a:r>
          </a:p>
          <a:p>
            <a:r>
              <a:rPr lang="en-US" sz="1600"/>
              <a:t>Tujuan: Menghilangkan duplikasi data barang (nama &amp; harga muncul berulang), dan menghindari anomaly saat mengubah data barang.</a:t>
            </a:r>
          </a:p>
        </p:txBody>
      </p:sp>
      <p:pic>
        <p:nvPicPr>
          <p:cNvPr id="10" name="Picture 9">
            <a:extLst>
              <a:ext uri="{FF2B5EF4-FFF2-40B4-BE49-F238E27FC236}">
                <a16:creationId xmlns:a16="http://schemas.microsoft.com/office/drawing/2014/main" id="{FB7C765A-2DA5-D963-3242-4E5DBA1047F4}"/>
              </a:ext>
            </a:extLst>
          </p:cNvPr>
          <p:cNvPicPr>
            <a:picLocks noChangeAspect="1"/>
          </p:cNvPicPr>
          <p:nvPr/>
        </p:nvPicPr>
        <p:blipFill>
          <a:blip r:embed="rId3"/>
          <a:stretch>
            <a:fillRect/>
          </a:stretch>
        </p:blipFill>
        <p:spPr>
          <a:xfrm>
            <a:off x="6453816" y="1398854"/>
            <a:ext cx="3244711" cy="1559957"/>
          </a:xfrm>
          <a:prstGeom prst="rect">
            <a:avLst/>
          </a:prstGeom>
        </p:spPr>
      </p:pic>
      <p:pic>
        <p:nvPicPr>
          <p:cNvPr id="16" name="Picture 15">
            <a:extLst>
              <a:ext uri="{FF2B5EF4-FFF2-40B4-BE49-F238E27FC236}">
                <a16:creationId xmlns:a16="http://schemas.microsoft.com/office/drawing/2014/main" id="{2C83AFBB-9BB2-66F9-3D22-4B788AAD95E4}"/>
              </a:ext>
            </a:extLst>
          </p:cNvPr>
          <p:cNvPicPr>
            <a:picLocks noChangeAspect="1"/>
          </p:cNvPicPr>
          <p:nvPr/>
        </p:nvPicPr>
        <p:blipFill>
          <a:blip r:embed="rId4"/>
          <a:stretch>
            <a:fillRect/>
          </a:stretch>
        </p:blipFill>
        <p:spPr>
          <a:xfrm>
            <a:off x="1605592" y="864296"/>
            <a:ext cx="4848225" cy="2047875"/>
          </a:xfrm>
          <a:prstGeom prst="rect">
            <a:avLst/>
          </a:prstGeom>
        </p:spPr>
      </p:pic>
    </p:spTree>
    <p:extLst>
      <p:ext uri="{BB962C8B-B14F-4D97-AF65-F5344CB8AC3E}">
        <p14:creationId xmlns:p14="http://schemas.microsoft.com/office/powerpoint/2010/main" val="35861294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5A8246B7-539A-41FF-AFC2-3D393D1E7EA2}"/>
              </a:ext>
            </a:extLst>
          </p:cNvPr>
          <p:cNvSpPr txBox="1"/>
          <p:nvPr/>
        </p:nvSpPr>
        <p:spPr>
          <a:xfrm>
            <a:off x="473009" y="407896"/>
            <a:ext cx="611065" cy="369332"/>
          </a:xfrm>
          <a:prstGeom prst="rect">
            <a:avLst/>
          </a:prstGeom>
          <a:noFill/>
        </p:spPr>
        <p:txBody>
          <a:bodyPr wrap="none" rtlCol="0">
            <a:spAutoFit/>
          </a:bodyPr>
          <a:lstStyle/>
          <a:p>
            <a:r>
              <a:rPr lang="en-US"/>
              <a:t>3NF</a:t>
            </a:r>
          </a:p>
        </p:txBody>
      </p:sp>
      <p:pic>
        <p:nvPicPr>
          <p:cNvPr id="11" name="Picture 10">
            <a:extLst>
              <a:ext uri="{FF2B5EF4-FFF2-40B4-BE49-F238E27FC236}">
                <a16:creationId xmlns:a16="http://schemas.microsoft.com/office/drawing/2014/main" id="{165471FF-1316-4391-841E-865336AF8172}"/>
              </a:ext>
            </a:extLst>
          </p:cNvPr>
          <p:cNvPicPr>
            <a:picLocks noChangeAspect="1"/>
          </p:cNvPicPr>
          <p:nvPr/>
        </p:nvPicPr>
        <p:blipFill>
          <a:blip r:embed="rId3"/>
          <a:stretch>
            <a:fillRect/>
          </a:stretch>
        </p:blipFill>
        <p:spPr>
          <a:xfrm>
            <a:off x="8309640" y="992134"/>
            <a:ext cx="3103818" cy="1492220"/>
          </a:xfrm>
          <a:prstGeom prst="rect">
            <a:avLst/>
          </a:prstGeom>
        </p:spPr>
      </p:pic>
      <p:sp>
        <p:nvSpPr>
          <p:cNvPr id="12" name="TextBox 11">
            <a:extLst>
              <a:ext uri="{FF2B5EF4-FFF2-40B4-BE49-F238E27FC236}">
                <a16:creationId xmlns:a16="http://schemas.microsoft.com/office/drawing/2014/main" id="{9EAD824F-2F4C-456F-B2B3-96A8A594F3DD}"/>
              </a:ext>
            </a:extLst>
          </p:cNvPr>
          <p:cNvSpPr txBox="1"/>
          <p:nvPr/>
        </p:nvSpPr>
        <p:spPr>
          <a:xfrm>
            <a:off x="778542" y="2354837"/>
            <a:ext cx="9943752" cy="4801314"/>
          </a:xfrm>
          <a:prstGeom prst="rect">
            <a:avLst/>
          </a:prstGeom>
          <a:noFill/>
        </p:spPr>
        <p:txBody>
          <a:bodyPr wrap="square" rtlCol="0">
            <a:spAutoFit/>
          </a:bodyPr>
          <a:lstStyle/>
          <a:p>
            <a:r>
              <a:rPr lang="en-US"/>
              <a:t>Syarat:</a:t>
            </a:r>
          </a:p>
          <a:p>
            <a:endParaRPr lang="en-US"/>
          </a:p>
          <a:p>
            <a:r>
              <a:rPr lang="en-US"/>
              <a:t>1. Sudah memenuhi 2NF.</a:t>
            </a:r>
          </a:p>
          <a:p>
            <a:endParaRPr lang="en-US"/>
          </a:p>
          <a:p>
            <a:r>
              <a:rPr lang="en-US"/>
              <a:t>2. Tidak ada transitive dependency: Atribut non-kunci tidak boleh bergantung pada atribut non-kunci lainnya.</a:t>
            </a:r>
          </a:p>
          <a:p>
            <a:r>
              <a:rPr lang="en-US"/>
              <a:t>Kenapa dilakukan:</a:t>
            </a:r>
          </a:p>
          <a:p>
            <a:r>
              <a:rPr lang="en-US"/>
              <a:t>Dalam 2NF, mungkin muncul ketergantungan transitif, contohnya Nama_Barang → Kategori.</a:t>
            </a:r>
          </a:p>
          <a:p>
            <a:r>
              <a:rPr lang="en-US"/>
              <a:t>Untuk memenuhi 3NF:</a:t>
            </a:r>
          </a:p>
          <a:p>
            <a:r>
              <a:rPr lang="en-US"/>
              <a:t>Tambahkan kolom Kategori pada Tabel_Barang dan pisahkan jika perlu (jika Kategori punya detail sendiri).</a:t>
            </a:r>
          </a:p>
          <a:p>
            <a:r>
              <a:rPr lang="en-US"/>
              <a:t>Transaksi dipecah jadi:</a:t>
            </a:r>
          </a:p>
          <a:p>
            <a:r>
              <a:rPr lang="en-US"/>
              <a:t>Tabel Transaksi → Kode_Faktur, Tanggal</a:t>
            </a:r>
          </a:p>
          <a:p>
            <a:r>
              <a:rPr lang="en-US"/>
              <a:t>Tabel Detail Transaksi → Kode_Faktur, Kode_Barang, Jumlah, Harga, Tanggal</a:t>
            </a:r>
          </a:p>
          <a:p>
            <a:r>
              <a:rPr lang="en-US"/>
              <a:t>Tujuan: Menjamin bahwa setiap data hanya disimpan sekali untuk mencegah inkonsistensi dan membuat struktur basis data efisien.</a:t>
            </a:r>
          </a:p>
          <a:p>
            <a:endParaRPr lang="en-US"/>
          </a:p>
        </p:txBody>
      </p:sp>
      <p:pic>
        <p:nvPicPr>
          <p:cNvPr id="14" name="Picture 13">
            <a:extLst>
              <a:ext uri="{FF2B5EF4-FFF2-40B4-BE49-F238E27FC236}">
                <a16:creationId xmlns:a16="http://schemas.microsoft.com/office/drawing/2014/main" id="{A6706082-3707-4DF2-B2FC-77F6127A1206}"/>
              </a:ext>
            </a:extLst>
          </p:cNvPr>
          <p:cNvPicPr>
            <a:picLocks noChangeAspect="1"/>
          </p:cNvPicPr>
          <p:nvPr/>
        </p:nvPicPr>
        <p:blipFill>
          <a:blip r:embed="rId4"/>
          <a:stretch>
            <a:fillRect/>
          </a:stretch>
        </p:blipFill>
        <p:spPr>
          <a:xfrm>
            <a:off x="951420" y="647710"/>
            <a:ext cx="2886157" cy="1836645"/>
          </a:xfrm>
          <a:prstGeom prst="rect">
            <a:avLst/>
          </a:prstGeom>
        </p:spPr>
      </p:pic>
      <p:pic>
        <p:nvPicPr>
          <p:cNvPr id="18" name="Picture 17">
            <a:extLst>
              <a:ext uri="{FF2B5EF4-FFF2-40B4-BE49-F238E27FC236}">
                <a16:creationId xmlns:a16="http://schemas.microsoft.com/office/drawing/2014/main" id="{B0FED05D-9099-45FF-B592-24BD8C0ED016}"/>
              </a:ext>
            </a:extLst>
          </p:cNvPr>
          <p:cNvPicPr>
            <a:picLocks noChangeAspect="1"/>
          </p:cNvPicPr>
          <p:nvPr/>
        </p:nvPicPr>
        <p:blipFill>
          <a:blip r:embed="rId5"/>
          <a:stretch>
            <a:fillRect/>
          </a:stretch>
        </p:blipFill>
        <p:spPr>
          <a:xfrm>
            <a:off x="3837577" y="592562"/>
            <a:ext cx="4348150" cy="1836645"/>
          </a:xfrm>
          <a:prstGeom prst="rect">
            <a:avLst/>
          </a:prstGeom>
        </p:spPr>
      </p:pic>
    </p:spTree>
    <p:extLst>
      <p:ext uri="{BB962C8B-B14F-4D97-AF65-F5344CB8AC3E}">
        <p14:creationId xmlns:p14="http://schemas.microsoft.com/office/powerpoint/2010/main" val="14191284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4364809" y="1057274"/>
            <a:ext cx="7043617" cy="2520217"/>
          </a:xfrm>
        </p:spPr>
        <p:txBody>
          <a:bodyPr/>
          <a:lstStyle/>
          <a:p>
            <a:r>
              <a:rPr lang="en-US"/>
              <a:t>Pengertian </a:t>
            </a:r>
            <a:br>
              <a:rPr lang="en-US"/>
            </a:br>
            <a:r>
              <a:rPr lang="en-US"/>
              <a:t>ERD</a:t>
            </a:r>
            <a:endParaRPr lang="en-US" dirty="0"/>
          </a:p>
        </p:txBody>
      </p:sp>
      <p:sp>
        <p:nvSpPr>
          <p:cNvPr id="4" name="Content Placeholder 3">
            <a:extLst>
              <a:ext uri="{FF2B5EF4-FFF2-40B4-BE49-F238E27FC236}">
                <a16:creationId xmlns:a16="http://schemas.microsoft.com/office/drawing/2014/main" id="{BDDD6BDC-E008-6AB7-55A1-46ED9BCF054F}"/>
              </a:ext>
            </a:extLst>
          </p:cNvPr>
          <p:cNvSpPr>
            <a:spLocks noGrp="1"/>
          </p:cNvSpPr>
          <p:nvPr>
            <p:ph idx="11"/>
          </p:nvPr>
        </p:nvSpPr>
        <p:spPr>
          <a:xfrm>
            <a:off x="4364808" y="3808750"/>
            <a:ext cx="7043618" cy="2233233"/>
          </a:xfrm>
        </p:spPr>
        <p:txBody>
          <a:bodyPr/>
          <a:lstStyle/>
          <a:p>
            <a:r>
              <a:rPr lang="en-US" b="1">
                <a:solidFill>
                  <a:srgbClr val="FFB86C"/>
                </a:solidFill>
                <a:effectLst/>
                <a:latin typeface="Consolas" panose="020B0609020204030204" pitchFamily="49" charset="0"/>
              </a:rPr>
              <a:t>(Entity Relationship Diagram)</a:t>
            </a:r>
            <a:endParaRPr lang="en-US" b="0">
              <a:solidFill>
                <a:srgbClr val="F8F8F2"/>
              </a:solidFill>
              <a:effectLst/>
              <a:latin typeface="Consolas" panose="020B0609020204030204" pitchFamily="49" charset="0"/>
            </a:endParaRPr>
          </a:p>
        </p:txBody>
      </p:sp>
    </p:spTree>
    <p:extLst>
      <p:ext uri="{BB962C8B-B14F-4D97-AF65-F5344CB8AC3E}">
        <p14:creationId xmlns:p14="http://schemas.microsoft.com/office/powerpoint/2010/main" val="11317180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333D45E-DADA-49B8-94E2-00A56094733B}"/>
              </a:ext>
            </a:extLst>
          </p:cNvPr>
          <p:cNvSpPr>
            <a:spLocks noGrp="1"/>
          </p:cNvSpPr>
          <p:nvPr>
            <p:ph sz="half" idx="2"/>
          </p:nvPr>
        </p:nvSpPr>
        <p:spPr>
          <a:xfrm>
            <a:off x="551145" y="2106518"/>
            <a:ext cx="6864263" cy="3720337"/>
          </a:xfrm>
        </p:spPr>
        <p:txBody>
          <a:bodyPr>
            <a:normAutofit fontScale="92500" lnSpcReduction="10000"/>
          </a:bodyPr>
          <a:lstStyle/>
          <a:p>
            <a:r>
              <a:rPr lang="en-US"/>
              <a:t>ERD (Entity Relationship Diagram) adalah diagram yang digunakan untuk memodelkan struktur logis dari basis data. Diagram ini menggambarkan entitas (objek yang memiliki data), atribut (informasi yang menjelaskan entitas), dan hubungan antar entitas.</a:t>
            </a:r>
          </a:p>
          <a:p>
            <a:endParaRPr lang="en-US"/>
          </a:p>
          <a:p>
            <a:r>
              <a:rPr lang="en-US"/>
              <a:t>Komponen utama dalam ERD:</a:t>
            </a:r>
          </a:p>
          <a:p>
            <a:r>
              <a:rPr lang="en-US"/>
              <a:t>- </a:t>
            </a:r>
            <a:r>
              <a:rPr lang="en-US">
                <a:solidFill>
                  <a:schemeClr val="bg1">
                    <a:lumMod val="50000"/>
                  </a:schemeClr>
                </a:solidFill>
              </a:rPr>
              <a:t>Entitas</a:t>
            </a:r>
            <a:r>
              <a:rPr lang="en-US"/>
              <a:t>: Sesuatu yang memiliki data, biasanya berupa tabel dalam datab.</a:t>
            </a:r>
          </a:p>
          <a:p>
            <a:r>
              <a:rPr lang="en-US"/>
              <a:t>- </a:t>
            </a:r>
            <a:r>
              <a:rPr lang="en-US">
                <a:solidFill>
                  <a:schemeClr val="bg1">
                    <a:lumMod val="50000"/>
                  </a:schemeClr>
                </a:solidFill>
              </a:rPr>
              <a:t>Atribut</a:t>
            </a:r>
            <a:r>
              <a:rPr lang="en-US"/>
              <a:t>: Informasi yang menjelaskan entitas.</a:t>
            </a:r>
          </a:p>
          <a:p>
            <a:r>
              <a:rPr lang="en-US"/>
              <a:t>- </a:t>
            </a:r>
            <a:r>
              <a:rPr lang="en-US">
                <a:solidFill>
                  <a:schemeClr val="bg1">
                    <a:lumMod val="50000"/>
                  </a:schemeClr>
                </a:solidFill>
              </a:rPr>
              <a:t>Relasi</a:t>
            </a:r>
            <a:r>
              <a:rPr lang="en-US"/>
              <a:t>: Hubungan antara dua atau lebih entitas.</a:t>
            </a:r>
          </a:p>
          <a:p>
            <a:endParaRPr lang="en-US"/>
          </a:p>
          <a:p>
            <a:r>
              <a:rPr lang="en-US"/>
              <a:t>ERD sangat membantu dalam merancang database secara konseptual sebelum diterapkan secara fisik.</a:t>
            </a:r>
          </a:p>
        </p:txBody>
      </p:sp>
      <p:sp>
        <p:nvSpPr>
          <p:cNvPr id="7" name="Title 6">
            <a:extLst>
              <a:ext uri="{FF2B5EF4-FFF2-40B4-BE49-F238E27FC236}">
                <a16:creationId xmlns:a16="http://schemas.microsoft.com/office/drawing/2014/main" id="{9C3308A0-3CA6-4F1E-B027-2B83D16AC621}"/>
              </a:ext>
            </a:extLst>
          </p:cNvPr>
          <p:cNvSpPr>
            <a:spLocks noGrp="1"/>
          </p:cNvSpPr>
          <p:nvPr>
            <p:ph type="title"/>
          </p:nvPr>
        </p:nvSpPr>
        <p:spPr>
          <a:xfrm>
            <a:off x="551145" y="498789"/>
            <a:ext cx="7796464" cy="1222385"/>
          </a:xfrm>
        </p:spPr>
        <p:txBody>
          <a:bodyPr/>
          <a:lstStyle/>
          <a:p>
            <a:r>
              <a:rPr lang="en-US" b="1">
                <a:solidFill>
                  <a:srgbClr val="FFB86C"/>
                </a:solidFill>
                <a:effectLst/>
                <a:latin typeface="Consolas" panose="020B0609020204030204" pitchFamily="49" charset="0"/>
              </a:rPr>
              <a:t>Pengertian ERD(Entity Relationship Diagram)</a:t>
            </a:r>
            <a:br>
              <a:rPr lang="en-US" b="0">
                <a:solidFill>
                  <a:srgbClr val="F8F8F2"/>
                </a:solidFill>
                <a:effectLst/>
                <a:latin typeface="Consolas" panose="020B0609020204030204" pitchFamily="49" charset="0"/>
              </a:rPr>
            </a:br>
            <a:endParaRPr lang="en-US" b="0"/>
          </a:p>
        </p:txBody>
      </p:sp>
    </p:spTree>
    <p:extLst>
      <p:ext uri="{BB962C8B-B14F-4D97-AF65-F5344CB8AC3E}">
        <p14:creationId xmlns:p14="http://schemas.microsoft.com/office/powerpoint/2010/main" val="24685957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48AC6CC-65EC-4F31-BC6F-F9F126038C99}"/>
              </a:ext>
            </a:extLst>
          </p:cNvPr>
          <p:cNvSpPr>
            <a:spLocks noGrp="1"/>
          </p:cNvSpPr>
          <p:nvPr>
            <p:ph type="title"/>
          </p:nvPr>
        </p:nvSpPr>
        <p:spPr>
          <a:xfrm>
            <a:off x="765973" y="151307"/>
            <a:ext cx="7796464" cy="1222385"/>
          </a:xfrm>
        </p:spPr>
        <p:txBody>
          <a:bodyPr/>
          <a:lstStyle/>
          <a:p>
            <a:r>
              <a:rPr lang="en-US" b="1">
                <a:solidFill>
                  <a:srgbClr val="FFB86C"/>
                </a:solidFill>
                <a:effectLst/>
                <a:latin typeface="Consolas" panose="020B0609020204030204" pitchFamily="49" charset="0"/>
              </a:rPr>
              <a:t>Diagram ERD dan ERD Physical</a:t>
            </a:r>
            <a:br>
              <a:rPr lang="en-US" b="0">
                <a:solidFill>
                  <a:srgbClr val="F8F8F2"/>
                </a:solidFill>
                <a:effectLst/>
                <a:latin typeface="Consolas" panose="020B0609020204030204" pitchFamily="49" charset="0"/>
              </a:rPr>
            </a:br>
            <a:endParaRPr lang="en-US"/>
          </a:p>
        </p:txBody>
      </p:sp>
      <p:pic>
        <p:nvPicPr>
          <p:cNvPr id="10" name="Content Placeholder 9">
            <a:extLst>
              <a:ext uri="{FF2B5EF4-FFF2-40B4-BE49-F238E27FC236}">
                <a16:creationId xmlns:a16="http://schemas.microsoft.com/office/drawing/2014/main" id="{92F790E0-3113-44DB-86A0-D2DCF6041592}"/>
              </a:ext>
            </a:extLst>
          </p:cNvPr>
          <p:cNvPicPr>
            <a:picLocks noGrp="1" noChangeAspect="1"/>
          </p:cNvPicPr>
          <p:nvPr>
            <p:ph sz="half" idx="2"/>
          </p:nvPr>
        </p:nvPicPr>
        <p:blipFill>
          <a:blip r:embed="rId3"/>
          <a:stretch>
            <a:fillRect/>
          </a:stretch>
        </p:blipFill>
        <p:spPr>
          <a:xfrm>
            <a:off x="563669" y="1031956"/>
            <a:ext cx="7595671" cy="1996533"/>
          </a:xfrm>
        </p:spPr>
      </p:pic>
      <p:pic>
        <p:nvPicPr>
          <p:cNvPr id="12" name="Picture 11">
            <a:extLst>
              <a:ext uri="{FF2B5EF4-FFF2-40B4-BE49-F238E27FC236}">
                <a16:creationId xmlns:a16="http://schemas.microsoft.com/office/drawing/2014/main" id="{68B2FB70-819D-45FD-8716-6CA5296D39AF}"/>
              </a:ext>
            </a:extLst>
          </p:cNvPr>
          <p:cNvPicPr>
            <a:picLocks noChangeAspect="1"/>
          </p:cNvPicPr>
          <p:nvPr/>
        </p:nvPicPr>
        <p:blipFill>
          <a:blip r:embed="rId4"/>
          <a:stretch>
            <a:fillRect/>
          </a:stretch>
        </p:blipFill>
        <p:spPr>
          <a:xfrm>
            <a:off x="563669" y="3177354"/>
            <a:ext cx="7059409" cy="3085806"/>
          </a:xfrm>
          <a:prstGeom prst="rect">
            <a:avLst/>
          </a:prstGeom>
        </p:spPr>
      </p:pic>
    </p:spTree>
    <p:extLst>
      <p:ext uri="{BB962C8B-B14F-4D97-AF65-F5344CB8AC3E}">
        <p14:creationId xmlns:p14="http://schemas.microsoft.com/office/powerpoint/2010/main" val="2878821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2140D81E-4A77-4D35-BEF0-31820606B620}"/>
              </a:ext>
            </a:extLst>
          </p:cNvPr>
          <p:cNvSpPr>
            <a:spLocks noGrp="1"/>
          </p:cNvSpPr>
          <p:nvPr>
            <p:ph sz="half" idx="2"/>
          </p:nvPr>
        </p:nvSpPr>
        <p:spPr>
          <a:xfrm>
            <a:off x="438410" y="1015277"/>
            <a:ext cx="11110587" cy="5842723"/>
          </a:xfrm>
        </p:spPr>
        <p:txBody>
          <a:bodyPr>
            <a:normAutofit/>
          </a:bodyPr>
          <a:lstStyle/>
          <a:p>
            <a:r>
              <a:rPr lang="en-US" sz="1200"/>
              <a:t>1. Entitas: BARANG</a:t>
            </a:r>
          </a:p>
          <a:p>
            <a:r>
              <a:rPr lang="en-US" sz="1200"/>
              <a:t>Atribut:</a:t>
            </a:r>
          </a:p>
          <a:p>
            <a:r>
              <a:rPr lang="en-US" sz="1200"/>
              <a:t>- kode_barang (PK): Primary key, identifikasi unik untuk setiap barang</a:t>
            </a:r>
          </a:p>
          <a:p>
            <a:r>
              <a:rPr lang="en-US" sz="1200"/>
              <a:t>- nama_barang: Nama dari barang</a:t>
            </a:r>
          </a:p>
          <a:p>
            <a:r>
              <a:rPr lang="en-US" sz="1200"/>
              <a:t>- harga: Harga dari barang</a:t>
            </a:r>
          </a:p>
          <a:p>
            <a:r>
              <a:rPr lang="en-US" sz="1200"/>
              <a:t>- kategori: Kategori barang</a:t>
            </a:r>
          </a:p>
          <a:p>
            <a:r>
              <a:rPr lang="en-US" sz="1200"/>
              <a:t>2. Entitas: TRANSAKSI</a:t>
            </a:r>
          </a:p>
          <a:p>
            <a:r>
              <a:rPr lang="en-US" sz="1200"/>
              <a:t>Atribut:</a:t>
            </a:r>
          </a:p>
          <a:p>
            <a:r>
              <a:rPr lang="en-US" sz="1200"/>
              <a:t>- kode_transaksi (PK): Primary key, identifikasi unik untuk transaksi</a:t>
            </a:r>
          </a:p>
          <a:p>
            <a:pPr marL="285750" indent="-285750">
              <a:buFontTx/>
              <a:buChar char="-"/>
            </a:pPr>
            <a:r>
              <a:rPr lang="en-US" sz="1200"/>
              <a:t>tanggal: Tanggal terjadinya transaksi</a:t>
            </a:r>
          </a:p>
          <a:p>
            <a:r>
              <a:rPr lang="en-US" sz="1200"/>
              <a:t>3. Entitas: DETAIL BARANG</a:t>
            </a:r>
          </a:p>
          <a:p>
            <a:r>
              <a:rPr lang="en-US" sz="1200"/>
              <a:t>Atribut:</a:t>
            </a:r>
          </a:p>
          <a:p>
            <a:r>
              <a:rPr lang="en-US" sz="1200"/>
              <a:t>- kode_detailbarang (PK): Primary key unik untuk setiap baris detail</a:t>
            </a:r>
          </a:p>
          <a:p>
            <a:r>
              <a:rPr lang="en-US" sz="1200"/>
              <a:t>- kode_barang (PK, FK): Foreign key ke tabel BARANG dan juga bagian dari primary key </a:t>
            </a:r>
          </a:p>
          <a:p>
            <a:r>
              <a:rPr lang="en-US" sz="1200"/>
              <a:t>- kode_transaksi (PK, FK): Foreign key ke tabel TRANSAKSI dan juga bagian dari primary key</a:t>
            </a:r>
          </a:p>
          <a:p>
            <a:r>
              <a:rPr lang="en-US" sz="1200"/>
              <a:t>- jumlah: Jumlah barang yang dibeli dalam transaksi tersebut</a:t>
            </a:r>
          </a:p>
          <a:p>
            <a:br>
              <a:rPr lang="en-US" sz="1200"/>
            </a:br>
            <a:r>
              <a:rPr lang="en-US" sz="1200"/>
              <a:t>DETAIL BARANG sebagai tabel penghubung antara BARANG dan TRANSAKSI</a:t>
            </a:r>
          </a:p>
          <a:p>
            <a:r>
              <a:rPr lang="en-US" sz="1200"/>
              <a:t>Relasi many-to-many antara BARANG dan TRANSAKSI: satu barang bisa muncul di banyak transaksi, dan satu transaksi bisa melibatkan banyak barang.</a:t>
            </a:r>
          </a:p>
          <a:p>
            <a:endParaRPr lang="en-US" sz="1200"/>
          </a:p>
        </p:txBody>
      </p:sp>
      <p:sp>
        <p:nvSpPr>
          <p:cNvPr id="8" name="Title 7">
            <a:extLst>
              <a:ext uri="{FF2B5EF4-FFF2-40B4-BE49-F238E27FC236}">
                <a16:creationId xmlns:a16="http://schemas.microsoft.com/office/drawing/2014/main" id="{F97D8EA2-84D3-4A14-A57B-F69F44F0E38A}"/>
              </a:ext>
            </a:extLst>
          </p:cNvPr>
          <p:cNvSpPr>
            <a:spLocks noGrp="1"/>
          </p:cNvSpPr>
          <p:nvPr>
            <p:ph type="title"/>
          </p:nvPr>
        </p:nvSpPr>
        <p:spPr>
          <a:xfrm>
            <a:off x="914399" y="242602"/>
            <a:ext cx="7796464" cy="686086"/>
          </a:xfrm>
        </p:spPr>
        <p:txBody>
          <a:bodyPr/>
          <a:lstStyle/>
          <a:p>
            <a:r>
              <a:rPr lang="en-US"/>
              <a:t>PENJELASAN</a:t>
            </a:r>
          </a:p>
        </p:txBody>
      </p:sp>
      <p:sp>
        <p:nvSpPr>
          <p:cNvPr id="9" name="TextBox 8">
            <a:extLst>
              <a:ext uri="{FF2B5EF4-FFF2-40B4-BE49-F238E27FC236}">
                <a16:creationId xmlns:a16="http://schemas.microsoft.com/office/drawing/2014/main" id="{99EC51E1-369F-4EDA-908B-A65D5864E227}"/>
              </a:ext>
            </a:extLst>
          </p:cNvPr>
          <p:cNvSpPr txBox="1"/>
          <p:nvPr/>
        </p:nvSpPr>
        <p:spPr>
          <a:xfrm>
            <a:off x="801666" y="6100175"/>
            <a:ext cx="184731" cy="369332"/>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34678948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63532B8-3428-4AC3-A0D4-92125499AF1F}"/>
              </a:ext>
            </a:extLst>
          </p:cNvPr>
          <p:cNvSpPr>
            <a:spLocks noGrp="1"/>
          </p:cNvSpPr>
          <p:nvPr>
            <p:ph type="title"/>
          </p:nvPr>
        </p:nvSpPr>
        <p:spPr>
          <a:xfrm>
            <a:off x="450935" y="216538"/>
            <a:ext cx="7796464" cy="819526"/>
          </a:xfrm>
        </p:spPr>
        <p:txBody>
          <a:bodyPr/>
          <a:lstStyle/>
          <a:p>
            <a:r>
              <a:rPr lang="en-US" sz="2800" b="0"/>
              <a:t>ORM (Object-Relational Mapping)</a:t>
            </a:r>
          </a:p>
        </p:txBody>
      </p:sp>
      <p:sp>
        <p:nvSpPr>
          <p:cNvPr id="8" name="Content Placeholder 7">
            <a:extLst>
              <a:ext uri="{FF2B5EF4-FFF2-40B4-BE49-F238E27FC236}">
                <a16:creationId xmlns:a16="http://schemas.microsoft.com/office/drawing/2014/main" id="{D31DB552-1BF1-4468-8B8B-02809E4499F3}"/>
              </a:ext>
            </a:extLst>
          </p:cNvPr>
          <p:cNvSpPr>
            <a:spLocks noGrp="1"/>
          </p:cNvSpPr>
          <p:nvPr>
            <p:ph sz="half" idx="2"/>
          </p:nvPr>
        </p:nvSpPr>
        <p:spPr>
          <a:xfrm>
            <a:off x="450935" y="1568831"/>
            <a:ext cx="8404964" cy="3720337"/>
          </a:xfrm>
        </p:spPr>
        <p:txBody>
          <a:bodyPr>
            <a:normAutofit/>
          </a:bodyPr>
          <a:lstStyle/>
          <a:p>
            <a:r>
              <a:rPr lang="en-US"/>
              <a:t>ORM (Object-Relational Mapping) adalah teknik pemetaan antara struktur data dalam bahasa pemrograman berorientasi objek dengan tabel dalam basis data relasional, sehingga memungkinkan manipulasi data menggunakan objek tanpa menulis SQL langsung.</a:t>
            </a:r>
          </a:p>
          <a:p>
            <a:endParaRPr lang="en-US"/>
          </a:p>
          <a:p>
            <a:r>
              <a:rPr lang="en-US"/>
              <a:t>Dengan ORM, kita dapat mengakses, menyimpan, mengubah, dan menghapus data di database menggunakan kode berorientasi objek, tanpa harus menulis perintah SQL secara langsung.</a:t>
            </a:r>
          </a:p>
          <a:p>
            <a:endParaRPr lang="en-US"/>
          </a:p>
        </p:txBody>
      </p:sp>
    </p:spTree>
    <p:extLst>
      <p:ext uri="{BB962C8B-B14F-4D97-AF65-F5344CB8AC3E}">
        <p14:creationId xmlns:p14="http://schemas.microsoft.com/office/powerpoint/2010/main" val="16848446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9333D45E-DADA-49B8-94E2-00A56094733B}"/>
              </a:ext>
            </a:extLst>
          </p:cNvPr>
          <p:cNvSpPr>
            <a:spLocks noGrp="1"/>
          </p:cNvSpPr>
          <p:nvPr>
            <p:ph sz="half" idx="2"/>
          </p:nvPr>
        </p:nvSpPr>
        <p:spPr>
          <a:xfrm>
            <a:off x="463463" y="1377863"/>
            <a:ext cx="8304756" cy="4947781"/>
          </a:xfrm>
        </p:spPr>
        <p:txBody>
          <a:bodyPr>
            <a:normAutofit fontScale="92500" lnSpcReduction="10000"/>
          </a:bodyPr>
          <a:lstStyle/>
          <a:p>
            <a:r>
              <a:rPr lang="en-US"/>
              <a:t>- Menyederhanakan Akses ke Database yang memungkinkan developer berinteraksi dengan database menggunakan kode berorientasi objek seperti class dan method.</a:t>
            </a:r>
          </a:p>
          <a:p>
            <a:r>
              <a:rPr lang="en-US"/>
              <a:t>- Meningkatkan Produktivitas</a:t>
            </a:r>
          </a:p>
          <a:p>
            <a:r>
              <a:rPr lang="en-US"/>
              <a:t>Kita tidak perlu menulis banyak query SQL manual. Cukup menggunakan metode seperti .save(), .filter(), dll.</a:t>
            </a:r>
          </a:p>
          <a:p>
            <a:r>
              <a:rPr lang="en-US"/>
              <a:t>- Membuat Kode Lebih Terstruktur dan Konsisten</a:t>
            </a:r>
          </a:p>
          <a:p>
            <a:r>
              <a:rPr lang="en-US"/>
              <a:t>Data dan Operasi database dikelola melalui class, yang sesuai dengan prinsip Object-Oriented Programming(OOP).</a:t>
            </a:r>
          </a:p>
          <a:p>
            <a:r>
              <a:rPr lang="en-US"/>
              <a:t>- Mempermudah Pemeliharaan dan Pengembangan Aplikasi</a:t>
            </a:r>
          </a:p>
          <a:p>
            <a:r>
              <a:rPr lang="en-US"/>
              <a:t>ORM membuat aplikasi lebih mudah di maintain karena logika database menyatu dengan struktur program.</a:t>
            </a:r>
          </a:p>
          <a:p>
            <a:r>
              <a:rPr lang="en-US"/>
              <a:t>- Meningkatkan Portabilitas Aplikasi</a:t>
            </a:r>
          </a:p>
          <a:p>
            <a:r>
              <a:rPr lang="en-US"/>
              <a:t>ORM memudahkan penggantian jenis database tanpa banyak perubahan kode SQL.</a:t>
            </a:r>
          </a:p>
          <a:p>
            <a:r>
              <a:rPr lang="en-US"/>
              <a:t>Singkat nya Tujuan ORM adalah untuk menjembatani antara dunia objek dalam pemrograman dengan dunia tabel dalam database relasional, sehingga interaksi dengan database menjadi lebih mudah, aman, dan efisien.</a:t>
            </a:r>
          </a:p>
        </p:txBody>
      </p:sp>
      <p:sp>
        <p:nvSpPr>
          <p:cNvPr id="7" name="Title 6">
            <a:extLst>
              <a:ext uri="{FF2B5EF4-FFF2-40B4-BE49-F238E27FC236}">
                <a16:creationId xmlns:a16="http://schemas.microsoft.com/office/drawing/2014/main" id="{9C3308A0-3CA6-4F1E-B027-2B83D16AC621}"/>
              </a:ext>
            </a:extLst>
          </p:cNvPr>
          <p:cNvSpPr>
            <a:spLocks noGrp="1"/>
          </p:cNvSpPr>
          <p:nvPr>
            <p:ph type="title"/>
          </p:nvPr>
        </p:nvSpPr>
        <p:spPr>
          <a:xfrm>
            <a:off x="463463" y="191295"/>
            <a:ext cx="7796464" cy="622897"/>
          </a:xfrm>
        </p:spPr>
        <p:txBody>
          <a:bodyPr/>
          <a:lstStyle/>
          <a:p>
            <a:r>
              <a:rPr lang="en-US" b="0"/>
              <a:t>Tujuan ORM</a:t>
            </a:r>
          </a:p>
        </p:txBody>
      </p:sp>
    </p:spTree>
    <p:extLst>
      <p:ext uri="{BB962C8B-B14F-4D97-AF65-F5344CB8AC3E}">
        <p14:creationId xmlns:p14="http://schemas.microsoft.com/office/powerpoint/2010/main" val="39400449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Content Placeholder 11">
            <a:extLst>
              <a:ext uri="{FF2B5EF4-FFF2-40B4-BE49-F238E27FC236}">
                <a16:creationId xmlns:a16="http://schemas.microsoft.com/office/drawing/2014/main" id="{1A73B56C-0ACB-459B-B701-2C0A91A190E4}"/>
              </a:ext>
            </a:extLst>
          </p:cNvPr>
          <p:cNvPicPr>
            <a:picLocks noGrp="1" noChangeAspect="1"/>
          </p:cNvPicPr>
          <p:nvPr>
            <p:ph sz="half" idx="2"/>
          </p:nvPr>
        </p:nvPicPr>
        <p:blipFill>
          <a:blip r:embed="rId3"/>
          <a:stretch>
            <a:fillRect/>
          </a:stretch>
        </p:blipFill>
        <p:spPr>
          <a:xfrm>
            <a:off x="765973" y="325763"/>
            <a:ext cx="5729718" cy="5138841"/>
          </a:xfrm>
        </p:spPr>
      </p:pic>
      <p:sp>
        <p:nvSpPr>
          <p:cNvPr id="3" name="TextBox 2">
            <a:extLst>
              <a:ext uri="{FF2B5EF4-FFF2-40B4-BE49-F238E27FC236}">
                <a16:creationId xmlns:a16="http://schemas.microsoft.com/office/drawing/2014/main" id="{0B54BFAD-153D-AB68-010B-69B56C3A7A3D}"/>
              </a:ext>
            </a:extLst>
          </p:cNvPr>
          <p:cNvSpPr txBox="1"/>
          <p:nvPr/>
        </p:nvSpPr>
        <p:spPr>
          <a:xfrm>
            <a:off x="700896" y="5464604"/>
            <a:ext cx="6094562" cy="646331"/>
          </a:xfrm>
          <a:prstGeom prst="rect">
            <a:avLst/>
          </a:prstGeom>
          <a:noFill/>
        </p:spPr>
        <p:txBody>
          <a:bodyPr wrap="square">
            <a:spAutoFit/>
          </a:bodyPr>
          <a:lstStyle/>
          <a:p>
            <a:r>
              <a:rPr lang="en-ID"/>
              <a:t>Ini adalah sebuah metode pembuatan database dengan menggunakan database ORM</a:t>
            </a:r>
          </a:p>
        </p:txBody>
      </p:sp>
    </p:spTree>
    <p:extLst>
      <p:ext uri="{BB962C8B-B14F-4D97-AF65-F5344CB8AC3E}">
        <p14:creationId xmlns:p14="http://schemas.microsoft.com/office/powerpoint/2010/main" val="13405922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a:extLst>
              <a:ext uri="{FF2B5EF4-FFF2-40B4-BE49-F238E27FC236}">
                <a16:creationId xmlns:a16="http://schemas.microsoft.com/office/drawing/2014/main" id="{AA70FD6F-CEB0-4C7C-BFF0-6AEE10FC719F}"/>
              </a:ext>
            </a:extLst>
          </p:cNvPr>
          <p:cNvPicPr>
            <a:picLocks noGrp="1" noChangeAspect="1"/>
          </p:cNvPicPr>
          <p:nvPr>
            <p:ph sz="half" idx="2"/>
          </p:nvPr>
        </p:nvPicPr>
        <p:blipFill>
          <a:blip r:embed="rId3"/>
          <a:stretch>
            <a:fillRect/>
          </a:stretch>
        </p:blipFill>
        <p:spPr>
          <a:xfrm>
            <a:off x="338201" y="543757"/>
            <a:ext cx="6847603" cy="4809370"/>
          </a:xfrm>
        </p:spPr>
      </p:pic>
      <p:sp>
        <p:nvSpPr>
          <p:cNvPr id="3" name="TextBox 2">
            <a:extLst>
              <a:ext uri="{FF2B5EF4-FFF2-40B4-BE49-F238E27FC236}">
                <a16:creationId xmlns:a16="http://schemas.microsoft.com/office/drawing/2014/main" id="{7F36E293-9E37-157E-722D-467BA5A56181}"/>
              </a:ext>
            </a:extLst>
          </p:cNvPr>
          <p:cNvSpPr txBox="1"/>
          <p:nvPr/>
        </p:nvSpPr>
        <p:spPr>
          <a:xfrm>
            <a:off x="338201" y="5452696"/>
            <a:ext cx="6094562" cy="369332"/>
          </a:xfrm>
          <a:prstGeom prst="rect">
            <a:avLst/>
          </a:prstGeom>
          <a:noFill/>
        </p:spPr>
        <p:txBody>
          <a:bodyPr wrap="square">
            <a:spAutoFit/>
          </a:bodyPr>
          <a:lstStyle/>
          <a:p>
            <a:r>
              <a:rPr lang="en-ID"/>
              <a:t>jika database ORM di jadikan query maka akan seperti ini</a:t>
            </a:r>
          </a:p>
        </p:txBody>
      </p:sp>
    </p:spTree>
    <p:extLst>
      <p:ext uri="{BB962C8B-B14F-4D97-AF65-F5344CB8AC3E}">
        <p14:creationId xmlns:p14="http://schemas.microsoft.com/office/powerpoint/2010/main" val="8722138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1388401"/>
            <a:ext cx="5715000" cy="2727709"/>
          </a:xfrm>
        </p:spPr>
        <p:txBody>
          <a:bodyPr/>
          <a:lstStyle/>
          <a:p>
            <a:r>
              <a:rPr lang="en-US"/>
              <a:t>Terima</a:t>
            </a:r>
            <a:br>
              <a:rPr lang="en-US"/>
            </a:br>
            <a:r>
              <a:rPr lang="en-US"/>
              <a:t>	kasih</a:t>
            </a:r>
            <a:endParaRPr lang="en-US" dirty="0"/>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{323648A0-FA7B-4AD2-A5B2-10D28C0A131B}tf78438558_win32</Template>
  <TotalTime>53</TotalTime>
  <Words>1235</Words>
  <Application>Microsoft Office PowerPoint</Application>
  <PresentationFormat>Widescreen</PresentationFormat>
  <Paragraphs>127</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Arial Black</vt:lpstr>
      <vt:lpstr>Calibri</vt:lpstr>
      <vt:lpstr>Consolas</vt:lpstr>
      <vt:lpstr>Sabon Next LT</vt:lpstr>
      <vt:lpstr>Custom</vt:lpstr>
      <vt:lpstr>Presentasi Projek Basisdata</vt:lpstr>
      <vt:lpstr>Anggota kelompok</vt:lpstr>
      <vt:lpstr>PowerPoint Presentation</vt:lpstr>
      <vt:lpstr>Normalisasi</vt:lpstr>
      <vt:lpstr>Normalisasi</vt:lpstr>
      <vt:lpstr>PowerPoint Presentation</vt:lpstr>
      <vt:lpstr>PowerPoint Presentation</vt:lpstr>
      <vt:lpstr>PowerPoint Presentation</vt:lpstr>
      <vt:lpstr>PowerPoint Presentation</vt:lpstr>
      <vt:lpstr>Pengertian  ERD</vt:lpstr>
      <vt:lpstr>Pengertian ERD(Entity Relationship Diagram) </vt:lpstr>
      <vt:lpstr>Diagram ERD dan ERD Physical </vt:lpstr>
      <vt:lpstr>PENJELASAN</vt:lpstr>
      <vt:lpstr>ORM (Object-Relational Mapping)</vt:lpstr>
      <vt:lpstr>Tujuan ORM</vt:lpstr>
      <vt:lpstr>PowerPoint Presentation</vt:lpstr>
      <vt:lpstr>PowerPoint Presentation</vt:lpstr>
      <vt:lpstr>Terima  kasih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Presentasi Projek Basisdata</dc:title>
  <dc:subject/>
  <dc:creator>muhammad nabiel</dc:creator>
  <cp:lastModifiedBy>Hifzi Khairi</cp:lastModifiedBy>
  <cp:revision>10</cp:revision>
  <dcterms:created xsi:type="dcterms:W3CDTF">2025-05-19T05:08:56Z</dcterms:created>
  <dcterms:modified xsi:type="dcterms:W3CDTF">2025-05-19T06:09:46Z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